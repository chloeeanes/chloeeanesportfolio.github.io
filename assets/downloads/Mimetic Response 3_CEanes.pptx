
<file path=[Content_Types].xml><?xml version="1.0" encoding="utf-8"?>
<Types xmlns="http://schemas.openxmlformats.org/package/2006/content-types">
  <Default Extension="gif" ContentType="image/gif"/>
  <Default Extension="jpeg" ContentType="image/jpeg"/>
  <Default Extension="mov" ContentType="video/quicktime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76FE22-506B-4EB8-A1EE-BAC901F8720A}" v="280" dt="2026-09-08T16:12:51.649"/>
    <p1510:client id="{A1405355-0C71-39CD-03AF-0C444A8DDC5D}" v="1517" dt="2026-09-07T22:45:19.1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79" d="100"/>
          <a:sy n="79" d="100"/>
        </p:scale>
        <p:origin x="91" y="4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mp3"/><Relationship Id="rId3" Type="http://schemas.microsoft.com/office/2007/relationships/media" Target="../media/media2.mp3"/><Relationship Id="rId7" Type="http://schemas.microsoft.com/office/2007/relationships/media" Target="../media/media4.mp3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11" Type="http://schemas.openxmlformats.org/officeDocument/2006/relationships/image" Target="../media/image2.gif"/><Relationship Id="rId5" Type="http://schemas.microsoft.com/office/2007/relationships/media" Target="../media/media3.mp3"/><Relationship Id="rId10" Type="http://schemas.openxmlformats.org/officeDocument/2006/relationships/image" Target="../media/image1.png"/><Relationship Id="rId4" Type="http://schemas.openxmlformats.org/officeDocument/2006/relationships/audio" Target="../media/media2.mp3"/><Relationship Id="rId9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microsoft.com/office/2007/relationships/media" Target="../media/media5.mp3"/><Relationship Id="rId7" Type="http://schemas.microsoft.com/office/2007/relationships/media" Target="../media/media7.mp3"/><Relationship Id="rId2" Type="http://schemas.microsoft.com/office/2007/relationships/media" Target="../media/media4.mp3"/><Relationship Id="rId1" Type="http://schemas.openxmlformats.org/officeDocument/2006/relationships/audio" Target="NULL" TargetMode="External"/><Relationship Id="rId6" Type="http://schemas.openxmlformats.org/officeDocument/2006/relationships/audio" Target="../media/media6.mp3"/><Relationship Id="rId5" Type="http://schemas.microsoft.com/office/2007/relationships/media" Target="../media/media6.mp3"/><Relationship Id="rId10" Type="http://schemas.openxmlformats.org/officeDocument/2006/relationships/image" Target="../media/image1.png"/><Relationship Id="rId4" Type="http://schemas.openxmlformats.org/officeDocument/2006/relationships/audio" Target="../media/media5.mp3"/><Relationship Id="rId9" Type="http://schemas.openxmlformats.org/officeDocument/2006/relationships/image" Target="../media/image2.gi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audio" Target="../media/media5.mp3"/><Relationship Id="rId13" Type="http://schemas.openxmlformats.org/officeDocument/2006/relationships/image" Target="../media/image4.png"/><Relationship Id="rId3" Type="http://schemas.microsoft.com/office/2007/relationships/media" Target="../media/media8.mp3"/><Relationship Id="rId7" Type="http://schemas.microsoft.com/office/2007/relationships/media" Target="../media/media5.mp3"/><Relationship Id="rId12" Type="http://schemas.openxmlformats.org/officeDocument/2006/relationships/image" Target="../media/image3.png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audio" Target="../media/media9.mp3"/><Relationship Id="rId11" Type="http://schemas.openxmlformats.org/officeDocument/2006/relationships/slideLayout" Target="../slideLayouts/slideLayout7.xml"/><Relationship Id="rId5" Type="http://schemas.microsoft.com/office/2007/relationships/media" Target="../media/media9.mp3"/><Relationship Id="rId15" Type="http://schemas.openxmlformats.org/officeDocument/2006/relationships/image" Target="../media/image5.png"/><Relationship Id="rId10" Type="http://schemas.openxmlformats.org/officeDocument/2006/relationships/video" Target="../media/media10.mov"/><Relationship Id="rId4" Type="http://schemas.openxmlformats.org/officeDocument/2006/relationships/audio" Target="../media/media8.mp3"/><Relationship Id="rId9" Type="http://schemas.microsoft.com/office/2007/relationships/media" Target="../media/media10.mov"/><Relationship Id="rId1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NULL" TargetMode="External"/><Relationship Id="rId7" Type="http://schemas.openxmlformats.org/officeDocument/2006/relationships/image" Target="../media/image2.gif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microsoft.com/office/2007/relationships/media" Target="../media/media4.mp3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media" Target="../media/media6.mp3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5.png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video" Target="../media/media10.mov"/><Relationship Id="rId11" Type="http://schemas.openxmlformats.org/officeDocument/2006/relationships/image" Target="../media/image1.png"/><Relationship Id="rId5" Type="http://schemas.microsoft.com/office/2007/relationships/media" Target="../media/media10.mov"/><Relationship Id="rId10" Type="http://schemas.openxmlformats.org/officeDocument/2006/relationships/image" Target="../media/image4.png"/><Relationship Id="rId4" Type="http://schemas.openxmlformats.org/officeDocument/2006/relationships/audio" Target="../media/media6.mp3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media" Target="../media/media12.mp3"/><Relationship Id="rId7" Type="http://schemas.openxmlformats.org/officeDocument/2006/relationships/image" Target="../media/image1.png"/><Relationship Id="rId2" Type="http://schemas.openxmlformats.org/officeDocument/2006/relationships/video" Target="../media/media11.mp4"/><Relationship Id="rId1" Type="http://schemas.microsoft.com/office/2007/relationships/media" Target="../media/media11.mp4"/><Relationship Id="rId6" Type="http://schemas.openxmlformats.org/officeDocument/2006/relationships/image" Target="../media/image7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12.mp3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ACF14B-546F-603B-DEC0-B359A0F5AA2C}"/>
              </a:ext>
            </a:extLst>
          </p:cNvPr>
          <p:cNvSpPr txBox="1"/>
          <p:nvPr/>
        </p:nvSpPr>
        <p:spPr>
          <a:xfrm>
            <a:off x="940038" y="1712719"/>
            <a:ext cx="1030480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0" i="0" dirty="0">
                <a:solidFill>
                  <a:srgbClr val="000000"/>
                </a:solidFill>
                <a:latin typeface="Helvetica Neue"/>
              </a:rPr>
              <a:t>As a man</a:t>
            </a:r>
            <a:r>
              <a:rPr lang="en-US" sz="2400" dirty="0">
                <a:solidFill>
                  <a:srgbClr val="000000"/>
                </a:solidFill>
                <a:latin typeface="Helvetica Neue"/>
              </a:rPr>
              <a:t> </a:t>
            </a:r>
            <a:r>
              <a:rPr lang="en-US" sz="2400" b="0" i="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Helvetica Neue"/>
              </a:rPr>
              <a:t>                    </a:t>
            </a:r>
            <a:r>
              <a:rPr lang="en-US" sz="2400" b="0" i="0" dirty="0">
                <a:solidFill>
                  <a:srgbClr val="000000"/>
                </a:solidFill>
                <a:latin typeface="Helvetica Neue"/>
              </a:rPr>
              <a:t>the</a:t>
            </a:r>
            <a:r>
              <a:rPr lang="en-US" sz="2400" dirty="0">
                <a:solidFill>
                  <a:srgbClr val="000000"/>
                </a:solidFill>
                <a:latin typeface="Helvetica Neue"/>
              </a:rPr>
              <a:t> </a:t>
            </a:r>
            <a:r>
              <a:rPr lang="en-US" sz="2400" b="0" i="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Helvetica Neue"/>
              </a:rPr>
              <a:t>                  </a:t>
            </a:r>
            <a:r>
              <a:rPr lang="en-US" sz="2400" b="0" i="0" dirty="0">
                <a:solidFill>
                  <a:srgbClr val="000000"/>
                </a:solidFill>
                <a:latin typeface="Helvetica Neue"/>
              </a:rPr>
              <a:t>sidewalk, another guy</a:t>
            </a:r>
            <a:r>
              <a:rPr lang="en-US" sz="2400" dirty="0">
                <a:solidFill>
                  <a:srgbClr val="000000"/>
                </a:solidFill>
                <a:latin typeface="Helvetica Neue"/>
              </a:rPr>
              <a:t> </a:t>
            </a:r>
            <a:r>
              <a:rPr lang="en-US" sz="2400" b="0" i="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Helvetica Neue"/>
              </a:rPr>
              <a:t>         </a:t>
            </a:r>
            <a:r>
              <a:rPr lang="en-US" sz="2400" b="0" i="0" dirty="0">
                <a:solidFill>
                  <a:srgbClr val="000000"/>
                </a:solidFill>
                <a:latin typeface="Helvetica Neue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Helvetica Neue"/>
              </a:rPr>
              <a:t> </a:t>
            </a:r>
            <a:r>
              <a:rPr lang="en-US" sz="2400" b="0" i="0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Helvetica Neue"/>
              </a:rPr>
              <a:t>            </a:t>
            </a:r>
            <a:r>
              <a:rPr lang="en-US" sz="2400" b="0" i="0" dirty="0">
                <a:solidFill>
                  <a:srgbClr val="000000"/>
                </a:solidFill>
                <a:latin typeface="Helvetica Neue"/>
              </a:rPr>
              <a:t>with him</a:t>
            </a:r>
            <a:r>
              <a:rPr lang="en-US" sz="2400" dirty="0">
                <a:solidFill>
                  <a:srgbClr val="000000"/>
                </a:solidFill>
                <a:latin typeface="Helvetica Neue"/>
              </a:rPr>
              <a:t>.</a:t>
            </a:r>
            <a:endParaRPr lang="en-US" sz="2400" dirty="0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4970CA-262D-D9BA-87B5-76D6A5752E7E}"/>
              </a:ext>
            </a:extLst>
          </p:cNvPr>
          <p:cNvSpPr txBox="1"/>
          <p:nvPr/>
        </p:nvSpPr>
        <p:spPr>
          <a:xfrm>
            <a:off x="940038" y="4301014"/>
            <a:ext cx="1030480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In the spirit of politeness, the man quickly glances to the right to acknowledge the guy, and sees he is covered in              and             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5D65F6-4565-3EB3-78EE-D645D8DE2088}"/>
              </a:ext>
            </a:extLst>
          </p:cNvPr>
          <p:cNvSpPr txBox="1"/>
          <p:nvPr/>
        </p:nvSpPr>
        <p:spPr>
          <a:xfrm>
            <a:off x="378409" y="1303145"/>
            <a:ext cx="190144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Helvetica Neue"/>
              </a:rPr>
              <a:t>walks down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516EC-0381-4B4D-1A32-74F37BA92808}"/>
              </a:ext>
            </a:extLst>
          </p:cNvPr>
          <p:cNvSpPr txBox="1"/>
          <p:nvPr/>
        </p:nvSpPr>
        <p:spPr>
          <a:xfrm>
            <a:off x="5875232" y="1733277"/>
            <a:ext cx="1687796" cy="4687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Helvetica Neue"/>
              </a:rPr>
              <a:t>sun-kissed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78908D-C9D3-EC98-9BA0-CB0A1E692947}"/>
              </a:ext>
            </a:extLst>
          </p:cNvPr>
          <p:cNvSpPr txBox="1"/>
          <p:nvPr/>
        </p:nvSpPr>
        <p:spPr>
          <a:xfrm>
            <a:off x="430850" y="2047338"/>
            <a:ext cx="103261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Helvetica Neue"/>
              </a:rPr>
              <a:t>walks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2FFF17-F74A-88B7-6366-41376CC98E3A}"/>
              </a:ext>
            </a:extLst>
          </p:cNvPr>
          <p:cNvSpPr txBox="1"/>
          <p:nvPr/>
        </p:nvSpPr>
        <p:spPr>
          <a:xfrm>
            <a:off x="378409" y="2457026"/>
            <a:ext cx="128899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0" i="0" u="none" strike="noStrike" baseline="0" dirty="0">
                <a:solidFill>
                  <a:srgbClr val="000000"/>
                </a:solidFill>
                <a:latin typeface="Helvetica Neue"/>
              </a:rPr>
              <a:t>tandem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610029C-83BC-A216-E88D-79A97D1D8725}"/>
              </a:ext>
            </a:extLst>
          </p:cNvPr>
          <p:cNvSpPr/>
          <p:nvPr/>
        </p:nvSpPr>
        <p:spPr>
          <a:xfrm>
            <a:off x="7536109" y="3047999"/>
            <a:ext cx="517321" cy="978715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B645473-7AAF-69F7-D0FE-4028B63734E3}"/>
              </a:ext>
            </a:extLst>
          </p:cNvPr>
          <p:cNvSpPr/>
          <p:nvPr/>
        </p:nvSpPr>
        <p:spPr>
          <a:xfrm>
            <a:off x="8184164" y="3047998"/>
            <a:ext cx="517321" cy="978715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DFB8597F-BB1E-9ACF-629A-1554DABFBF5D}"/>
              </a:ext>
            </a:extLst>
          </p:cNvPr>
          <p:cNvSpPr/>
          <p:nvPr/>
        </p:nvSpPr>
        <p:spPr>
          <a:xfrm>
            <a:off x="7503442" y="3538140"/>
            <a:ext cx="292570" cy="306813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8928CC-058C-8A07-8A19-16DBFD765767}"/>
              </a:ext>
            </a:extLst>
          </p:cNvPr>
          <p:cNvSpPr txBox="1"/>
          <p:nvPr/>
        </p:nvSpPr>
        <p:spPr>
          <a:xfrm>
            <a:off x="7990318" y="4675262"/>
            <a:ext cx="98276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</a:rPr>
              <a:t>muck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0CFDA2-6B2E-53CF-F715-C050CA4894BE}"/>
              </a:ext>
            </a:extLst>
          </p:cNvPr>
          <p:cNvSpPr txBox="1"/>
          <p:nvPr/>
        </p:nvSpPr>
        <p:spPr>
          <a:xfrm>
            <a:off x="9364766" y="4668140"/>
            <a:ext cx="113944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latin typeface="Aptos"/>
              </a:rPr>
              <a:t>blood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798068-6735-DB04-086E-604E63DC6C97}"/>
              </a:ext>
            </a:extLst>
          </p:cNvPr>
          <p:cNvSpPr txBox="1"/>
          <p:nvPr/>
        </p:nvSpPr>
        <p:spPr>
          <a:xfrm>
            <a:off x="820991" y="830026"/>
            <a:ext cx="3810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Trigger Warning: Bloody Images</a:t>
            </a:r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94E8CD3C-4C7A-F54D-4A7C-8185B25C5021}"/>
              </a:ext>
            </a:extLst>
          </p:cNvPr>
          <p:cNvSpPr/>
          <p:nvPr/>
        </p:nvSpPr>
        <p:spPr>
          <a:xfrm>
            <a:off x="8184164" y="3538140"/>
            <a:ext cx="292570" cy="306813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49656682-urban-morning-birds-4-am-soundscape-366500">
            <a:hlinkClick r:id="" action="ppaction://media"/>
            <a:extLst>
              <a:ext uri="{FF2B5EF4-FFF2-40B4-BE49-F238E27FC236}">
                <a16:creationId xmlns:a16="http://schemas.microsoft.com/office/drawing/2014/main" id="{A3F84383-177A-4156-6DB2-60100AAA024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78409" y="225993"/>
            <a:ext cx="487363" cy="487363"/>
          </a:xfrm>
          <a:prstGeom prst="rect">
            <a:avLst/>
          </a:prstGeom>
        </p:spPr>
      </p:pic>
      <p:pic>
        <p:nvPicPr>
          <p:cNvPr id="17" name="freesound_community-footsteps-on-sidewalk-84642">
            <a:hlinkClick r:id="" action="ppaction://media"/>
            <a:extLst>
              <a:ext uri="{FF2B5EF4-FFF2-40B4-BE49-F238E27FC236}">
                <a16:creationId xmlns:a16="http://schemas.microsoft.com/office/drawing/2014/main" id="{55730C5D-1B99-12DC-55E7-40A9D6B0D16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085447" y="254034"/>
            <a:ext cx="487363" cy="487363"/>
          </a:xfrm>
          <a:prstGeom prst="rect">
            <a:avLst/>
          </a:prstGeom>
        </p:spPr>
      </p:pic>
      <p:pic>
        <p:nvPicPr>
          <p:cNvPr id="18" name="freesound_community-footsteps-on-sidewalk-84642">
            <a:hlinkClick r:id="" action="ppaction://media"/>
            <a:extLst>
              <a:ext uri="{FF2B5EF4-FFF2-40B4-BE49-F238E27FC236}">
                <a16:creationId xmlns:a16="http://schemas.microsoft.com/office/drawing/2014/main" id="{BABF3985-A0CD-F26D-1549-DE3F48D4728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816259" y="254033"/>
            <a:ext cx="487363" cy="487363"/>
          </a:xfrm>
          <a:prstGeom prst="rect">
            <a:avLst/>
          </a:prstGeom>
        </p:spPr>
      </p:pic>
      <p:pic>
        <p:nvPicPr>
          <p:cNvPr id="19" name="freesound_community-footsteps-on-sidewalk-84642">
            <a:hlinkClick r:id="" action="ppaction://media"/>
            <a:extLst>
              <a:ext uri="{FF2B5EF4-FFF2-40B4-BE49-F238E27FC236}">
                <a16:creationId xmlns:a16="http://schemas.microsoft.com/office/drawing/2014/main" id="{66910AC3-C7B7-C06E-2471-22E9729DFCB3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523297" y="284328"/>
            <a:ext cx="487363" cy="487363"/>
          </a:xfrm>
          <a:prstGeom prst="rect">
            <a:avLst/>
          </a:prstGeom>
        </p:spPr>
      </p:pic>
      <p:pic>
        <p:nvPicPr>
          <p:cNvPr id="20" name="floraphonic-goopy-slime-4-219777">
            <a:hlinkClick r:id="" action="ppaction://media"/>
            <a:extLst>
              <a:ext uri="{FF2B5EF4-FFF2-40B4-BE49-F238E27FC236}">
                <a16:creationId xmlns:a16="http://schemas.microsoft.com/office/drawing/2014/main" id="{8AF0301D-C093-D048-4EE3-7504D55A8A96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254109" y="325743"/>
            <a:ext cx="487363" cy="487363"/>
          </a:xfrm>
          <a:prstGeom prst="rect">
            <a:avLst/>
          </a:prstGeom>
        </p:spPr>
      </p:pic>
      <p:pic>
        <p:nvPicPr>
          <p:cNvPr id="21" name="tanweraman-dripping-water-stereo-sound-257182">
            <a:hlinkClick r:id="" action="ppaction://media"/>
            <a:extLst>
              <a:ext uri="{FF2B5EF4-FFF2-40B4-BE49-F238E27FC236}">
                <a16:creationId xmlns:a16="http://schemas.microsoft.com/office/drawing/2014/main" id="{AFD1CA8C-0C53-F4EC-B55F-BC3584379338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021671" y="346707"/>
            <a:ext cx="487363" cy="48736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E6FC945-A658-0E83-5821-FB515CAEBEA9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2052" y="4756826"/>
            <a:ext cx="751718" cy="27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24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31992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393 L 0.08086 -0.03356 L 0.13191 0.00602 L 0.19258 -0.01528 L 0.22448 0.03588 L 0.27006 0.05857 L 0.27006 0.05857 " pathEditMode="relative" ptsTypes="AAAAAAA">
                                      <p:cBhvr>
                                        <p:cTn id="3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1)">
                                      <p:cBhvr>
                                        <p:cTn id="32" dur="3800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animClr clrSpc="rgb" dir="cw">
                                      <p:cBhvr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6 -0.00024 L 0.08269 0.02801 C 0.10157 0.04143 0.09336 0.03588 0.10743 0.04513 L 0.11628 0.05069 C 0.12097 0.05393 0.11862 0.0537 0.12188 0.0537 L 0.12188 0.0537 L 0.1793 0.09189 L 0.23112 0.08912 L 0.30209 0.09629 L 0.32917 0.07777 L 0.33711 0.0125 " pathEditMode="relative" ptsTypes="AAAAAAAAAAA">
                                      <p:cBhvr>
                                        <p:cTn id="43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1 -0.00463 L 0.07084 0.02083 L 0.12032 0.05347 L 0.17214 0.08611 L 0.22956 0.09028 L 0.29584 0.09606 L 0.40586 0.04629 L 0.43789 -0.05139 " pathEditMode="relative" ptsTypes="AAAAAAAA">
                                      <p:cBhvr>
                                        <p:cTn id="45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1)">
                                      <p:cBhvr>
                                        <p:cTn id="47" dur="3800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4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5)">
                                      <p:cBhvr>
                                        <p:cTn id="49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4.44444E-6 L 0.02266 0.00232 " pathEditMode="relative" rAng="0" ptsTypes="AA">
                                      <p:cBhvr>
                                        <p:cTn id="7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33" y="116"/>
                                    </p:animMotion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4.44444E-6 L 0.02266 0.00232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33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BF4F14"/>
                                      </p:to>
                                    </p:animClr>
                                    <p:animClr clrSpc="rgb" dir="cw">
                                      <p:cBhvr>
                                        <p:cTn id="8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BF4F14"/>
                                      </p:to>
                                    </p:animClr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5" dur="816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90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4" dur="32914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9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  <p:audio>
              <p:cMediaNode vol="80000" showWhenStopped="0">
                <p:cTn id="9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 showWhenStopped="0">
                <p:cTn id="9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10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  <p:audio>
              <p:cMediaNode vol="80000" showWhenStopped="0">
                <p:cTn id="10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10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  <p:bldLst>
      <p:bldP spid="2" grpId="0"/>
      <p:bldP spid="3" grpId="0"/>
      <p:bldP spid="4" grpId="0"/>
      <p:bldP spid="4" grpId="1"/>
      <p:bldP spid="5" grpId="0" build="allAtOnce"/>
      <p:bldP spid="6" grpId="0"/>
      <p:bldP spid="6" grpId="1"/>
      <p:bldP spid="7" grpId="0"/>
      <p:bldP spid="7" grpId="1"/>
      <p:bldP spid="8" grpId="0" animBg="1"/>
      <p:bldP spid="9" grpId="0" animBg="1"/>
      <p:bldP spid="10" grpId="0" animBg="1"/>
      <p:bldP spid="10" grpId="1" animBg="1"/>
      <p:bldP spid="12" grpId="0" build="allAtOnce"/>
      <p:bldP spid="13" grpId="0" build="allAtOnce"/>
      <p:bldP spid="14" grpId="0"/>
      <p:bldP spid="15" grpId="0" animBg="1"/>
      <p:bldP spid="15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7EAA93-BC9F-B03A-A181-51CAA1C33E1E}"/>
              </a:ext>
            </a:extLst>
          </p:cNvPr>
          <p:cNvSpPr txBox="1"/>
          <p:nvPr/>
        </p:nvSpPr>
        <p:spPr>
          <a:xfrm>
            <a:off x="932916" y="1484832"/>
            <a:ext cx="10319046" cy="4687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This frightens the man and he tries                              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72834E-8378-2D4C-DF46-1F7A2947E406}"/>
              </a:ext>
            </a:extLst>
          </p:cNvPr>
          <p:cNvSpPr txBox="1"/>
          <p:nvPr/>
        </p:nvSpPr>
        <p:spPr>
          <a:xfrm>
            <a:off x="925795" y="3015953"/>
            <a:ext cx="499928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0" i="0" dirty="0"/>
              <a:t>The</a:t>
            </a:r>
            <a:r>
              <a:rPr lang="en-US" sz="2400" dirty="0"/>
              <a:t> </a:t>
            </a:r>
            <a:r>
              <a:rPr lang="en-US" sz="2400" b="0" i="0" dirty="0"/>
              <a:t> </a:t>
            </a:r>
            <a:r>
              <a:rPr lang="en-US" sz="2400" dirty="0"/>
              <a:t>                            </a:t>
            </a:r>
            <a:r>
              <a:rPr lang="en-US" sz="2400" b="0" i="0" dirty="0"/>
              <a:t>keeps up with him, 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5F53DE-4EBF-2FB3-5DDD-44CA74631910}"/>
              </a:ext>
            </a:extLst>
          </p:cNvPr>
          <p:cNvSpPr txBox="1"/>
          <p:nvPr/>
        </p:nvSpPr>
        <p:spPr>
          <a:xfrm>
            <a:off x="1474151" y="4539953"/>
            <a:ext cx="517020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“Why are you following me?” He says, 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FE7546-5344-1BF5-BFE5-2BDFC115C182}"/>
              </a:ext>
            </a:extLst>
          </p:cNvPr>
          <p:cNvSpPr txBox="1"/>
          <p:nvPr/>
        </p:nvSpPr>
        <p:spPr>
          <a:xfrm>
            <a:off x="413046" y="1163818"/>
            <a:ext cx="212220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</a:rPr>
              <a:t>walking faster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B3375D-85FA-85A4-6B20-C9851660E9C2}"/>
              </a:ext>
            </a:extLst>
          </p:cNvPr>
          <p:cNvSpPr txBox="1"/>
          <p:nvPr/>
        </p:nvSpPr>
        <p:spPr>
          <a:xfrm>
            <a:off x="1520438" y="3015953"/>
            <a:ext cx="202962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</a:rPr>
              <a:t>bloodied guy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EA61D4-7E54-61FB-8835-47E151E8DD7E}"/>
              </a:ext>
            </a:extLst>
          </p:cNvPr>
          <p:cNvSpPr txBox="1"/>
          <p:nvPr/>
        </p:nvSpPr>
        <p:spPr>
          <a:xfrm>
            <a:off x="5925084" y="3023075"/>
            <a:ext cx="6096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so the man stops and</a:t>
            </a:r>
            <a:r>
              <a:rPr lang="en-US" sz="240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 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           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to </a:t>
            </a:r>
            <a:r>
              <a:rPr lang="en-US" sz="240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the guy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6384D0-62A7-223A-F9F1-446F3AE0CF42}"/>
              </a:ext>
            </a:extLst>
          </p:cNvPr>
          <p:cNvSpPr txBox="1"/>
          <p:nvPr/>
        </p:nvSpPr>
        <p:spPr>
          <a:xfrm>
            <a:off x="8795047" y="3015953"/>
            <a:ext cx="101837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</a:rPr>
              <a:t>turns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02AFDB-869F-8236-DA55-F87385E16E33}"/>
              </a:ext>
            </a:extLst>
          </p:cNvPr>
          <p:cNvSpPr txBox="1"/>
          <p:nvPr/>
        </p:nvSpPr>
        <p:spPr>
          <a:xfrm>
            <a:off x="6473439" y="4539954"/>
            <a:ext cx="4329869" cy="4687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</a:rPr>
              <a:t>but when he looks at the guy,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0BE34A-A150-0DCE-65F0-0FD4B6252051}"/>
              </a:ext>
            </a:extLst>
          </p:cNvPr>
          <p:cNvSpPr txBox="1"/>
          <p:nvPr/>
        </p:nvSpPr>
        <p:spPr>
          <a:xfrm>
            <a:off x="2763140" y="5002851"/>
            <a:ext cx="667284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he realizes it’s his</a:t>
            </a:r>
            <a:r>
              <a:rPr lang="en-US" sz="240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 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                     in an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 office building.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9A1646-AC6B-2969-C9E3-BE791DAA4461}"/>
              </a:ext>
            </a:extLst>
          </p:cNvPr>
          <p:cNvSpPr txBox="1"/>
          <p:nvPr/>
        </p:nvSpPr>
        <p:spPr>
          <a:xfrm>
            <a:off x="5141720" y="5002850"/>
            <a:ext cx="156672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</a:rPr>
              <a:t>reflection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3C29D7-6919-51A4-9A6B-4C7C9A010B4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861" y="3069056"/>
            <a:ext cx="1670816" cy="359944"/>
          </a:xfrm>
          <a:prstGeom prst="rect">
            <a:avLst/>
          </a:prstGeom>
        </p:spPr>
      </p:pic>
      <p:pic>
        <p:nvPicPr>
          <p:cNvPr id="13" name="tanweraman-dripping-water-stereo-sound-257182">
            <a:hlinkClick r:id="" action="ppaction://media"/>
            <a:extLst>
              <a:ext uri="{FF2B5EF4-FFF2-40B4-BE49-F238E27FC236}">
                <a16:creationId xmlns:a16="http://schemas.microsoft.com/office/drawing/2014/main" id="{FECB5B95-451D-1B52-A8CB-4AA2DBC70151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end="28766.2812"/>
                </p14:media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383179" y="348320"/>
            <a:ext cx="487363" cy="487363"/>
          </a:xfrm>
          <a:prstGeom prst="rect">
            <a:avLst/>
          </a:prstGeom>
        </p:spPr>
      </p:pic>
      <p:pic>
        <p:nvPicPr>
          <p:cNvPr id="14" name="alex_jauk-eerie-atmosphere-ambience-372558">
            <a:hlinkClick r:id="" action="ppaction://media"/>
            <a:extLst>
              <a:ext uri="{FF2B5EF4-FFF2-40B4-BE49-F238E27FC236}">
                <a16:creationId xmlns:a16="http://schemas.microsoft.com/office/drawing/2014/main" id="{7E8D6963-E08F-4EAF-EB1A-23F62703523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87388" y="348319"/>
            <a:ext cx="487363" cy="487363"/>
          </a:xfrm>
          <a:prstGeom prst="rect">
            <a:avLst/>
          </a:prstGeom>
        </p:spPr>
      </p:pic>
      <p:pic>
        <p:nvPicPr>
          <p:cNvPr id="15" name="dragon-studio-scary-sound-effect-359877">
            <a:hlinkClick r:id="" action="ppaction://media"/>
            <a:extLst>
              <a:ext uri="{FF2B5EF4-FFF2-40B4-BE49-F238E27FC236}">
                <a16:creationId xmlns:a16="http://schemas.microsoft.com/office/drawing/2014/main" id="{9456916E-5DCF-F8C7-B009-9771ACC0CDD1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256639" y="348318"/>
            <a:ext cx="487363" cy="487363"/>
          </a:xfrm>
          <a:prstGeom prst="rect">
            <a:avLst/>
          </a:prstGeom>
        </p:spPr>
      </p:pic>
      <p:pic>
        <p:nvPicPr>
          <p:cNvPr id="16" name="freesound_community-concrete-footsteps-6752">
            <a:hlinkClick r:id="" action="ppaction://media"/>
            <a:extLst>
              <a:ext uri="{FF2B5EF4-FFF2-40B4-BE49-F238E27FC236}">
                <a16:creationId xmlns:a16="http://schemas.microsoft.com/office/drawing/2014/main" id="{004A6C89-040D-FFD4-B209-72369F5AE5F9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7">
                  <p14:trim end="56970"/>
                </p14:media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3152430" y="38236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983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3928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93 L 0.00039 0.00093 C 0.00964 0.00046 0.01901 0.00116 0.02826 -0.00046 C 0.03008 -0.00093 0.03151 -0.00301 0.03308 -0.00486 C 0.03477 -0.00671 0.0362 -0.00972 0.03789 -0.0118 C 0.03933 -0.01389 0.04102 -0.01551 0.04258 -0.01759 C 0.06706 0.0088 0.05625 0.00833 0.07214 0.00509 C 0.07722 -0.00301 0.0819 -0.01204 0.08815 -0.01759 C 0.08933 -0.01852 0.09076 -0.01852 0.09206 -0.01898 C 0.09362 -0.01713 0.09519 -0.01481 0.09688 -0.01319 C 0.10534 -0.00579 0.11368 -0.01273 0.12318 -0.01458 C 0.12956 -0.01273 0.13594 -0.01065 0.14232 -0.00903 C 0.14558 -0.00833 0.14883 -0.00602 0.15196 -0.00764 C 0.22526 -0.04491 0.1823 -0.03704 0.21341 -0.04167 C 0.2155 -0.04028 0.21771 -0.03935 0.2198 -0.03727 C 0.22266 -0.03449 0.22461 -0.02917 0.22774 -0.02731 C 0.23151 -0.02523 0.23568 -0.02639 0.23972 -0.02593 C 0.2448 -0.02893 0.26758 -0.04491 0.27722 -0.04305 C 0.28021 -0.04236 0.28243 -0.03773 0.28516 -0.03588 C 0.28881 -0.03356 0.29258 -0.03218 0.29636 -0.03032 C 0.29779 -0.03032 0.33711 -0.03472 0.34258 -0.03449 C 0.34584 -0.03426 0.34909 -0.03264 0.35222 -0.03171 C 0.35378 -0.02986 0.35521 -0.02755 0.35703 -0.02593 C 0.37097 -0.01435 0.38516 -0.01643 0.40091 -0.01319 C 0.40873 -0.00625 0.41315 -0.00069 0.42318 -0.00185 C 0.43321 -0.00324 0.44284 -0.0088 0.45274 -0.0118 C 0.45677 -0.01296 0.46068 -0.01366 0.46472 -0.01458 C 0.46745 -0.01319 0.47019 -0.01227 0.47266 -0.01042 C 0.47552 -0.00856 0.47787 -0.00463 0.48073 -0.00324 C 0.48516 -0.00139 0.48972 -0.00139 0.49427 -0.00046 C 0.49636 0.00046 0.4987 0.00046 0.50065 0.00232 C 0.50235 0.00394 0.50326 0.00718 0.50469 0.00949 C 0.51355 0.02361 0.51172 0.02107 0.51745 0.02778 C 0.51797 0.02963 0.5181 0.03195 0.51901 0.03357 C 0.5198 0.03495 0.52539 0.03843 0.52618 0.03912 C 0.52709 0.03982 0.52774 0.0412 0.52852 0.0419 C 0.53112 0.04398 0.53841 0.04468 0.53972 0.04491 C 0.54453 0.04537 0.54935 0.04583 0.55404 0.0463 C 0.56029 0.0537 0.5573 0.05185 0.56524 0.05324 C 0.56576 0.05347 0.56628 0.05324 0.56693 0.05324 L 0.56693 0.05324 " pathEditMode="relative" ptsTypes="AAAAAAAAAAAAAAAAAAAAAAAAAAAAAAAAAAAAAAAAA"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298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7" dur="4148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8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4" dur="8097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  <p:audio>
              <p:cMediaNode vol="80000" showWhenStopped="0">
                <p:cTn id="7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audio>
              <p:cMediaNode vol="80000" showWhenStopped="0">
                <p:cTn id="7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  <p:audio>
              <p:cMediaNode vol="80000" showWhenStopped="0">
                <p:cTn id="7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  <p:bldLst>
      <p:bldP spid="2" grpId="0"/>
      <p:bldP spid="4" grpId="0"/>
      <p:bldP spid="5" grpId="0"/>
      <p:bldP spid="6" grpId="0"/>
      <p:bldP spid="6" grpId="1"/>
      <p:bldP spid="7" grpId="0" build="allAtOnce"/>
      <p:bldP spid="8" grpId="0"/>
      <p:bldP spid="9" grpId="0"/>
      <p:bldP spid="9" grpId="1"/>
      <p:bldP spid="10" grpId="0"/>
      <p:bldP spid="11" grpId="0"/>
      <p:bldP spid="12" grpId="0"/>
      <p:bldP spid="1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A3BC5AF-8F53-0E13-6EDC-59D2C34C7B0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21339" y="2157813"/>
            <a:ext cx="2312350" cy="25352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FFB1A5-8AC9-6237-4675-06A165D3B9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21338" y="2157811"/>
            <a:ext cx="2312349" cy="254237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4210DA-C9C7-8173-868D-5C253BEE8647}"/>
              </a:ext>
            </a:extLst>
          </p:cNvPr>
          <p:cNvSpPr txBox="1"/>
          <p:nvPr/>
        </p:nvSpPr>
        <p:spPr>
          <a:xfrm>
            <a:off x="1880075" y="1299672"/>
            <a:ext cx="496368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His reflection                  at him eerily,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6DF697-5655-A462-88DD-953A6AFF2557}"/>
              </a:ext>
            </a:extLst>
          </p:cNvPr>
          <p:cNvSpPr txBox="1"/>
          <p:nvPr/>
        </p:nvSpPr>
        <p:spPr>
          <a:xfrm>
            <a:off x="1196411" y="3065803"/>
            <a:ext cx="256373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 When he arrived, 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FA3D9E-8EED-6280-34CF-E975D6824928}"/>
              </a:ext>
            </a:extLst>
          </p:cNvPr>
          <p:cNvSpPr txBox="1"/>
          <p:nvPr/>
        </p:nvSpPr>
        <p:spPr>
          <a:xfrm>
            <a:off x="1160804" y="4839056"/>
            <a:ext cx="987039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The man takes a                               and relaxes, walking back to his white,               couch.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CB3980-3C43-EC4F-5963-BAE0372FDC83}"/>
              </a:ext>
            </a:extLst>
          </p:cNvPr>
          <p:cNvSpPr txBox="1"/>
          <p:nvPr/>
        </p:nvSpPr>
        <p:spPr>
          <a:xfrm>
            <a:off x="3902580" y="1299672"/>
            <a:ext cx="105398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</a:rPr>
              <a:t>smiles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4DC094-B371-EE6C-9C0F-8EB59180CAD3}"/>
              </a:ext>
            </a:extLst>
          </p:cNvPr>
          <p:cNvSpPr txBox="1"/>
          <p:nvPr/>
        </p:nvSpPr>
        <p:spPr>
          <a:xfrm>
            <a:off x="6729813" y="1299672"/>
            <a:ext cx="358211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</a:rPr>
              <a:t>scaring the man further,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43F3EB-0F10-92F0-BE55-EFCBB1355847}"/>
              </a:ext>
            </a:extLst>
          </p:cNvPr>
          <p:cNvSpPr txBox="1"/>
          <p:nvPr/>
        </p:nvSpPr>
        <p:spPr>
          <a:xfrm>
            <a:off x="4251533" y="1762569"/>
            <a:ext cx="402364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</a:rPr>
              <a:t>  causing him to</a:t>
            </a:r>
            <a:r>
              <a:rPr lang="en-US" sz="2400" dirty="0">
                <a:solidFill>
                  <a:srgbClr val="000000"/>
                </a:solidFill>
                <a:latin typeface="Aptos"/>
              </a:rPr>
              <a:t> 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Aptos"/>
              </a:rPr>
              <a:t>       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</a:rPr>
              <a:t>home.</a:t>
            </a:r>
            <a:r>
              <a:rPr sz="2400" b="0" i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D6C575-382E-4BFC-8844-7230BE6D690A}"/>
              </a:ext>
            </a:extLst>
          </p:cNvPr>
          <p:cNvSpPr txBox="1"/>
          <p:nvPr/>
        </p:nvSpPr>
        <p:spPr>
          <a:xfrm>
            <a:off x="811072" y="1557279"/>
            <a:ext cx="68366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</a:rPr>
              <a:t>run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23301C-8FB6-9D14-00EB-089234A29959}"/>
              </a:ext>
            </a:extLst>
          </p:cNvPr>
          <p:cNvSpPr txBox="1"/>
          <p:nvPr/>
        </p:nvSpPr>
        <p:spPr>
          <a:xfrm>
            <a:off x="3582112" y="3065803"/>
            <a:ext cx="469306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he looked in </a:t>
            </a:r>
            <a:r>
              <a:rPr lang="en-US" sz="240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the bathroom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 mirror,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AEAF68-D5F8-227E-2A51-0BD19C9C3082}"/>
              </a:ext>
            </a:extLst>
          </p:cNvPr>
          <p:cNvSpPr txBox="1"/>
          <p:nvPr/>
        </p:nvSpPr>
        <p:spPr>
          <a:xfrm>
            <a:off x="1196411" y="3429000"/>
            <a:ext cx="46645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finding no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 fault with </a:t>
            </a:r>
            <a:r>
              <a:rPr lang="en-US" sz="240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his                     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.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84248B-6438-CA7A-3A3C-D25AEC0B2DE3}"/>
              </a:ext>
            </a:extLst>
          </p:cNvPr>
          <p:cNvSpPr txBox="1"/>
          <p:nvPr/>
        </p:nvSpPr>
        <p:spPr>
          <a:xfrm>
            <a:off x="4251533" y="3429000"/>
            <a:ext cx="150975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</a:rPr>
              <a:t>reflection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134DFB-8284-5410-D65B-A6BD94228D5E}"/>
              </a:ext>
            </a:extLst>
          </p:cNvPr>
          <p:cNvSpPr txBox="1"/>
          <p:nvPr/>
        </p:nvSpPr>
        <p:spPr>
          <a:xfrm>
            <a:off x="4223046" y="4839057"/>
            <a:ext cx="182310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</a:rPr>
              <a:t>deep breath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7D0CE7-B6C2-C951-490A-2FCA9ACB4D54}"/>
              </a:ext>
            </a:extLst>
          </p:cNvPr>
          <p:cNvSpPr txBox="1"/>
          <p:nvPr/>
        </p:nvSpPr>
        <p:spPr>
          <a:xfrm>
            <a:off x="5583251" y="5209373"/>
            <a:ext cx="97564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</a:rPr>
              <a:t>poofy</a:t>
            </a:r>
            <a:endParaRPr lang="en-US" dirty="0"/>
          </a:p>
        </p:txBody>
      </p:sp>
      <p:pic>
        <p:nvPicPr>
          <p:cNvPr id="17" name="dragon-studio-scary-sound-effect-359877">
            <a:hlinkClick r:id="" action="ppaction://media"/>
            <a:extLst>
              <a:ext uri="{FF2B5EF4-FFF2-40B4-BE49-F238E27FC236}">
                <a16:creationId xmlns:a16="http://schemas.microsoft.com/office/drawing/2014/main" id="{FF8B9033-3B6A-59AB-81F3-FC900537F32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323709" y="266738"/>
            <a:ext cx="487363" cy="487363"/>
          </a:xfrm>
          <a:prstGeom prst="rect">
            <a:avLst/>
          </a:prstGeom>
        </p:spPr>
      </p:pic>
      <p:pic>
        <p:nvPicPr>
          <p:cNvPr id="18" name="freesound_community-running-14658">
            <a:hlinkClick r:id="" action="ppaction://media"/>
            <a:extLst>
              <a:ext uri="{FF2B5EF4-FFF2-40B4-BE49-F238E27FC236}">
                <a16:creationId xmlns:a16="http://schemas.microsoft.com/office/drawing/2014/main" id="{65D64A3E-8DE6-A266-F29C-9248FAA92A4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1148448" y="266737"/>
            <a:ext cx="487363" cy="487363"/>
          </a:xfrm>
          <a:prstGeom prst="rect">
            <a:avLst/>
          </a:prstGeom>
        </p:spPr>
      </p:pic>
      <p:pic>
        <p:nvPicPr>
          <p:cNvPr id="19" name="hasin2004-deep-breath-247459">
            <a:hlinkClick r:id="" action="ppaction://media"/>
            <a:extLst>
              <a:ext uri="{FF2B5EF4-FFF2-40B4-BE49-F238E27FC236}">
                <a16:creationId xmlns:a16="http://schemas.microsoft.com/office/drawing/2014/main" id="{210F2030-1DDE-9F7B-70C5-78CA40C7AB38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1990916" y="266737"/>
            <a:ext cx="487363" cy="487363"/>
          </a:xfrm>
          <a:prstGeom prst="rect">
            <a:avLst/>
          </a:prstGeom>
        </p:spPr>
      </p:pic>
      <p:pic>
        <p:nvPicPr>
          <p:cNvPr id="20" name="alex_jauk-eerie-atmosphere-ambience-372558">
            <a:hlinkClick r:id="" action="ppaction://media"/>
            <a:extLst>
              <a:ext uri="{FF2B5EF4-FFF2-40B4-BE49-F238E27FC236}">
                <a16:creationId xmlns:a16="http://schemas.microsoft.com/office/drawing/2014/main" id="{1D74D34A-5A4F-AC00-129C-4D3F738F8730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2833384" y="295842"/>
            <a:ext cx="487363" cy="487363"/>
          </a:xfrm>
          <a:prstGeom prst="rect">
            <a:avLst/>
          </a:prstGeom>
        </p:spPr>
      </p:pic>
      <p:pic>
        <p:nvPicPr>
          <p:cNvPr id="11" name="creepysmileanimation_CEanes">
            <a:hlinkClick r:id="" action="ppaction://media"/>
            <a:extLst>
              <a:ext uri="{FF2B5EF4-FFF2-40B4-BE49-F238E27FC236}">
                <a16:creationId xmlns:a16="http://schemas.microsoft.com/office/drawing/2014/main" id="{2FED39AD-D41D-099F-9626-9D56A8ED22BB}"/>
              </a:ext>
            </a:extLst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3743384" y="20865"/>
            <a:ext cx="1372373" cy="137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574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23928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8097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7" presetID="19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200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3 -0.00116 L -0.00273 -0.00116 C 0.00169 0.00116 0.00625 0.00347 0.01081 0.00602 L 0.0474 0.02731 C 0.11979 -0.02454 0.08945 -0.02408 0.13516 -0.01551 C 0.13945 -0.0088 0.14414 -0.00278 0.14792 0.0044 C 0.15104 0.01041 0.15248 0.01898 0.15599 0.02454 C 0.15912 0.0294 0.16341 0.03102 0.16706 0.03449 C 0.18216 0.02916 0.21979 0.01389 0.23893 0.01296 C 0.2431 0.01296 0.25104 0.01991 0.25482 0.02291 C 0.32292 -0.00671 0.30352 -0.02616 0.3362 0.0044 C 0.33763 0.00579 0.33893 0.00741 0.34024 0.00879 C 0.35026 -0.00394 0.375 -0.04074 0.3905 -0.04375 C 0.39362 -0.04445 0.39531 -0.03634 0.39766 -0.03241 C 0.40013 -0.01736 0.40104 -0.00116 0.40482 0.01296 C 0.40599 0.01736 0.40938 0.02106 0.41198 0.02014 C 0.42018 0.01736 0.43516 0.00301 0.43516 0.00301 C 0.43568 0.00555 0.43607 0.0081 0.43672 0.01018 C 0.43919 0.01713 0.44883 0.02315 0.45026 0.02454 C 0.45143 0.03472 0.44974 0.03148 0.45677 0.03148 L 0.45677 0.03148 " pathEditMode="relative" ptsTypes="AAAAAAAAAAAAAAAAAAAAA">
                                      <p:cBhvr>
                                        <p:cTn id="3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0" dur="249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4" dur="2000" fill="hold"/>
                                        <p:tgtEl>
                                          <p:spTgt spid="1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6" dur="4728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20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1" dur="100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9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  <p:audio>
              <p:cMediaNode vol="80000" showWhenStopped="0">
                <p:cTn id="9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9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  <p:audio>
              <p:cMediaNode vol="80000" showWhenStopped="0">
                <p:cTn id="95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video>
              <p:cMediaNode vol="80000" showWhenStopped="0">
                <p:cTn id="96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  <p:bldLst>
      <p:bldP spid="2" grpId="0"/>
      <p:bldP spid="3" grpId="0"/>
      <p:bldP spid="4" grpId="0"/>
      <p:bldP spid="5" grpId="0" build="allAtOnce"/>
      <p:bldP spid="6" grpId="0"/>
      <p:bldP spid="7" grpId="0"/>
      <p:bldP spid="8" grpId="0"/>
      <p:bldP spid="8" grpId="1"/>
      <p:bldP spid="9" grpId="0"/>
      <p:bldP spid="10" grpId="0"/>
      <p:bldP spid="14" grpId="0"/>
      <p:bldP spid="14" grpId="1"/>
      <p:bldP spid="15" grpId="0"/>
      <p:bldP spid="15" grpId="1"/>
      <p:bldP spid="16" grpId="0"/>
      <p:bldP spid="16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76FF16-A4FB-CF0F-B007-06BFAE6E9325}"/>
              </a:ext>
            </a:extLst>
          </p:cNvPr>
          <p:cNvSpPr txBox="1"/>
          <p:nvPr/>
        </p:nvSpPr>
        <p:spPr>
          <a:xfrm>
            <a:off x="1011252" y="1150121"/>
            <a:ext cx="10169495" cy="4687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 However, he discovers a small,                           -looking spot.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2AE14E-3109-4F58-E4B7-10797AB754FF}"/>
              </a:ext>
            </a:extLst>
          </p:cNvPr>
          <p:cNvSpPr txBox="1"/>
          <p:nvPr/>
        </p:nvSpPr>
        <p:spPr>
          <a:xfrm>
            <a:off x="1288991" y="2147130"/>
            <a:ext cx="961401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 </a:t>
            </a:r>
            <a:r>
              <a:rPr lang="en-US" sz="2400" i="1" dirty="0"/>
              <a:t>Was that there before?</a:t>
            </a:r>
            <a:r>
              <a:rPr lang="en-US" sz="2400" dirty="0"/>
              <a:t> He thought. 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90526-34DA-6D9E-AB72-8F18F80C26E7}"/>
              </a:ext>
            </a:extLst>
          </p:cNvPr>
          <p:cNvSpPr txBox="1"/>
          <p:nvPr/>
        </p:nvSpPr>
        <p:spPr>
          <a:xfrm>
            <a:off x="1815982" y="2966103"/>
            <a:ext cx="836063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Then, he caught more</a:t>
            </a:r>
            <a:r>
              <a:rPr lang="en-US" sz="240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             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             out of the corner of his eye: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35C3FF-7092-1033-C3D3-FA08399183B3}"/>
              </a:ext>
            </a:extLst>
          </p:cNvPr>
          <p:cNvSpPr txBox="1"/>
          <p:nvPr/>
        </p:nvSpPr>
        <p:spPr>
          <a:xfrm>
            <a:off x="3048000" y="4041449"/>
            <a:ext cx="6096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</a:rPr>
              <a:t>on his hand,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E3A76E-777C-6355-B931-F21593D462EA}"/>
              </a:ext>
            </a:extLst>
          </p:cNvPr>
          <p:cNvSpPr txBox="1"/>
          <p:nvPr/>
        </p:nvSpPr>
        <p:spPr>
          <a:xfrm>
            <a:off x="2948299" y="4639655"/>
            <a:ext cx="6096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</a:rPr>
              <a:t>then on his other hand,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381568-9610-5893-2EC4-FB62786E0B7C}"/>
              </a:ext>
            </a:extLst>
          </p:cNvPr>
          <p:cNvSpPr txBox="1"/>
          <p:nvPr/>
        </p:nvSpPr>
        <p:spPr>
          <a:xfrm>
            <a:off x="2948299" y="5237860"/>
            <a:ext cx="6096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</a:rPr>
              <a:t> then all over his clothes.</a:t>
            </a:r>
            <a:r>
              <a:rPr sz="2400" b="0" i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849F72-9166-7BCC-AFBB-C6575D34AA35}"/>
              </a:ext>
            </a:extLst>
          </p:cNvPr>
          <p:cNvSpPr txBox="1"/>
          <p:nvPr/>
        </p:nvSpPr>
        <p:spPr>
          <a:xfrm>
            <a:off x="4792767" y="2966103"/>
            <a:ext cx="199401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</a:rPr>
              <a:t>metallic red 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E36804-2E5E-F383-078B-E837280567B9}"/>
              </a:ext>
            </a:extLst>
          </p:cNvPr>
          <p:cNvSpPr txBox="1"/>
          <p:nvPr/>
        </p:nvSpPr>
        <p:spPr>
          <a:xfrm>
            <a:off x="6373738" y="1150121"/>
            <a:ext cx="188719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</a:rPr>
              <a:t>metallic-red</a:t>
            </a:r>
            <a:endParaRPr lang="en-US" dirty="0"/>
          </a:p>
        </p:txBody>
      </p:sp>
      <p:pic>
        <p:nvPicPr>
          <p:cNvPr id="5" name="alex_jauk-eerie-atmosphere-ambience-372558">
            <a:hlinkClick r:id="" action="ppaction://media"/>
            <a:extLst>
              <a:ext uri="{FF2B5EF4-FFF2-40B4-BE49-F238E27FC236}">
                <a16:creationId xmlns:a16="http://schemas.microsoft.com/office/drawing/2014/main" id="{738DAA99-FC78-9629-2F5B-D304EAD9DA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87388" y="348319"/>
            <a:ext cx="487363" cy="4873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FC9830-B674-256F-4E4F-FD10D11E23B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425" y="4041449"/>
            <a:ext cx="1714757" cy="3749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2CD2BC-BCAF-6B3C-DBEB-835C46CA805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2030" y="4690970"/>
            <a:ext cx="3008536" cy="4616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4B8E3C-58C0-444A-5088-BF5FDE396BB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7165" y="5152635"/>
            <a:ext cx="3179048" cy="546890"/>
          </a:xfrm>
          <a:prstGeom prst="rect">
            <a:avLst/>
          </a:prstGeom>
        </p:spPr>
      </p:pic>
      <p:pic>
        <p:nvPicPr>
          <p:cNvPr id="14" name="tanweraman-dripping-water-stereo-sound-257182">
            <a:hlinkClick r:id="" action="ppaction://media"/>
            <a:extLst>
              <a:ext uri="{FF2B5EF4-FFF2-40B4-BE49-F238E27FC236}">
                <a16:creationId xmlns:a16="http://schemas.microsoft.com/office/drawing/2014/main" id="{A5136315-9A59-43BB-B6E0-0899B0A48EE5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>
                  <p14:trim end="28766.2812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383179" y="348320"/>
            <a:ext cx="487363" cy="487363"/>
          </a:xfrm>
          <a:prstGeom prst="rect">
            <a:avLst/>
          </a:prstGeom>
        </p:spPr>
      </p:pic>
      <p:pic>
        <p:nvPicPr>
          <p:cNvPr id="15" name="tanweraman-dripping-water-stereo-sound-257182">
            <a:hlinkClick r:id="" action="ppaction://media"/>
            <a:extLst>
              <a:ext uri="{FF2B5EF4-FFF2-40B4-BE49-F238E27FC236}">
                <a16:creationId xmlns:a16="http://schemas.microsoft.com/office/drawing/2014/main" id="{0CE840A7-3D50-7B25-27BB-0A61F5C4A10C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>
                  <p14:trim end="28766.2812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035288" y="371835"/>
            <a:ext cx="487363" cy="487363"/>
          </a:xfrm>
          <a:prstGeom prst="rect">
            <a:avLst/>
          </a:prstGeom>
        </p:spPr>
      </p:pic>
      <p:pic>
        <p:nvPicPr>
          <p:cNvPr id="16" name="tanweraman-dripping-water-stereo-sound-257182">
            <a:hlinkClick r:id="" action="ppaction://media"/>
            <a:extLst>
              <a:ext uri="{FF2B5EF4-FFF2-40B4-BE49-F238E27FC236}">
                <a16:creationId xmlns:a16="http://schemas.microsoft.com/office/drawing/2014/main" id="{CE57C8EA-3D61-5069-7623-20BD9DB107A3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>
                  <p14:trim end="28766.2812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704617" y="376464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77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392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1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3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5" dur="4148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6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1" dur="4148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8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7" dur="4148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88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 showWhenStopped="0">
                <p:cTn id="8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  <p:audio>
              <p:cMediaNode vol="80000" showWhenStopped="0">
                <p:cTn id="9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  <p:audio>
              <p:cMediaNode vol="80000" showWhenStopped="0">
                <p:cTn id="9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  <p:bldLst>
      <p:bldP spid="2" grpId="0"/>
      <p:bldP spid="3" grpId="0"/>
      <p:bldP spid="4" grpId="0"/>
      <p:bldP spid="6" grpId="0" build="allAtOnce"/>
      <p:bldP spid="7" grpId="0" build="allAtOnce"/>
      <p:bldP spid="8" grpId="0" build="allAtOnce"/>
      <p:bldP spid="9" grpId="0" build="allAtOnce"/>
      <p:bldP spid="10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DA53CFB-1E86-AC08-344C-288F364A3E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496" y="2065234"/>
            <a:ext cx="2290987" cy="2521011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3B12F0AA-2885-B2DF-31AC-84E56CD4074B}"/>
              </a:ext>
            </a:extLst>
          </p:cNvPr>
          <p:cNvGrpSpPr/>
          <p:nvPr/>
        </p:nvGrpSpPr>
        <p:grpSpPr>
          <a:xfrm>
            <a:off x="524496" y="2065234"/>
            <a:ext cx="2290988" cy="2521011"/>
            <a:chOff x="317973" y="2285998"/>
            <a:chExt cx="2312351" cy="2542376"/>
          </a:xfrm>
        </p:grpSpPr>
        <p:pic>
          <p:nvPicPr>
            <p:cNvPr id="15" name="Picture 14" descr="A mirror on a tile wall&#10;&#10;AI-generated content may be incorrect.">
              <a:extLst>
                <a:ext uri="{FF2B5EF4-FFF2-40B4-BE49-F238E27FC236}">
                  <a16:creationId xmlns:a16="http://schemas.microsoft.com/office/drawing/2014/main" id="{8D485A8A-033B-9DC9-CC45-AC78A5978BC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17974" y="2286000"/>
              <a:ext cx="2312350" cy="2535253"/>
            </a:xfrm>
            <a:prstGeom prst="rect">
              <a:avLst/>
            </a:prstGeom>
          </p:spPr>
        </p:pic>
        <p:pic>
          <p:nvPicPr>
            <p:cNvPr id="17" name="Picture 16" descr="A cartoon of a person&#10;&#10;AI-generated content may be incorrect.">
              <a:extLst>
                <a:ext uri="{FF2B5EF4-FFF2-40B4-BE49-F238E27FC236}">
                  <a16:creationId xmlns:a16="http://schemas.microsoft.com/office/drawing/2014/main" id="{8C5A2639-A27C-1884-00FC-DFF01D05D3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17973" y="2285998"/>
              <a:ext cx="2312349" cy="2542376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BC79B46-3228-CC19-061A-D869FD16BA2C}"/>
              </a:ext>
            </a:extLst>
          </p:cNvPr>
          <p:cNvSpPr txBox="1"/>
          <p:nvPr/>
        </p:nvSpPr>
        <p:spPr>
          <a:xfrm>
            <a:off x="1929925" y="1256944"/>
            <a:ext cx="833927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He looks at his                       in the window. His reflection                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4F3C8-A369-88F6-D6E9-1BAAAF6510F4}"/>
              </a:ext>
            </a:extLst>
          </p:cNvPr>
          <p:cNvSpPr txBox="1"/>
          <p:nvPr/>
        </p:nvSpPr>
        <p:spPr>
          <a:xfrm>
            <a:off x="4379720" y="2446234"/>
            <a:ext cx="6096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“Looks like I’m you now,” his reflection said. </a:t>
            </a:r>
            <a:endParaRPr lang="en-US" sz="2400" dirty="0"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A78F7C-2E84-0995-1E13-8D7DECBECACE}"/>
              </a:ext>
            </a:extLst>
          </p:cNvPr>
          <p:cNvSpPr txBox="1"/>
          <p:nvPr/>
        </p:nvSpPr>
        <p:spPr>
          <a:xfrm>
            <a:off x="3161944" y="3728103"/>
            <a:ext cx="6096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Except, it wasn’t his reflection:</a:t>
            </a:r>
            <a:r>
              <a:rPr lang="en-US" sz="240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 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        </a:t>
            </a:r>
            <a:endParaRPr lang="en-US" sz="2400" dirty="0"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E9092E-8B09-C2C7-F75E-6512E07BDED6}"/>
              </a:ext>
            </a:extLst>
          </p:cNvPr>
          <p:cNvSpPr txBox="1"/>
          <p:nvPr/>
        </p:nvSpPr>
        <p:spPr>
          <a:xfrm>
            <a:off x="7249683" y="3728102"/>
            <a:ext cx="340407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it was </a:t>
            </a:r>
            <a:r>
              <a:rPr lang="en-US" sz="240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his actual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 body.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A6BBD0-A4BA-6CAC-F5DB-3CFE9819EEEE}"/>
              </a:ext>
            </a:extLst>
          </p:cNvPr>
          <p:cNvSpPr txBox="1"/>
          <p:nvPr/>
        </p:nvSpPr>
        <p:spPr>
          <a:xfrm>
            <a:off x="3275888" y="5038457"/>
            <a:ext cx="166643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This time,</a:t>
            </a:r>
            <a:endParaRPr lang="en-US" sz="2400" dirty="0"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00362C-6F48-236E-F3D1-B6EEE9B676A7}"/>
              </a:ext>
            </a:extLst>
          </p:cNvPr>
          <p:cNvSpPr txBox="1"/>
          <p:nvPr/>
        </p:nvSpPr>
        <p:spPr>
          <a:xfrm>
            <a:off x="4678823" y="5038457"/>
            <a:ext cx="457912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</a:rPr>
              <a:t>he was trapped in the reflection.</a:t>
            </a:r>
            <a:r>
              <a:rPr sz="2400" b="0" i="0" dirty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E4EEFE-AF83-28A1-26A4-6E5914FEA040}"/>
              </a:ext>
            </a:extLst>
          </p:cNvPr>
          <p:cNvSpPr txBox="1"/>
          <p:nvPr/>
        </p:nvSpPr>
        <p:spPr>
          <a:xfrm>
            <a:off x="9051421" y="1249822"/>
            <a:ext cx="121777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</a:rPr>
              <a:t>smiled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C6B2DE-7209-30E4-D812-BA3A70FE225D}"/>
              </a:ext>
            </a:extLst>
          </p:cNvPr>
          <p:cNvSpPr txBox="1"/>
          <p:nvPr/>
        </p:nvSpPr>
        <p:spPr>
          <a:xfrm>
            <a:off x="3966673" y="1249822"/>
            <a:ext cx="149551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</a:rPr>
              <a:t>reflection</a:t>
            </a:r>
            <a:endParaRPr lang="en-US" dirty="0"/>
          </a:p>
        </p:txBody>
      </p:sp>
      <p:pic>
        <p:nvPicPr>
          <p:cNvPr id="10" name="alex_jauk-eerie-atmosphere-ambience-372558">
            <a:hlinkClick r:id="" action="ppaction://media"/>
            <a:extLst>
              <a:ext uri="{FF2B5EF4-FFF2-40B4-BE49-F238E27FC236}">
                <a16:creationId xmlns:a16="http://schemas.microsoft.com/office/drawing/2014/main" id="{FA7492D3-FBD2-BBA8-1B85-564DA6DE393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280814" y="159654"/>
            <a:ext cx="487363" cy="487363"/>
          </a:xfrm>
          <a:prstGeom prst="rect">
            <a:avLst/>
          </a:prstGeom>
        </p:spPr>
      </p:pic>
      <p:pic>
        <p:nvPicPr>
          <p:cNvPr id="11" name="dragon-studio-scary-sound-effect-359877">
            <a:hlinkClick r:id="" action="ppaction://media"/>
            <a:extLst>
              <a:ext uri="{FF2B5EF4-FFF2-40B4-BE49-F238E27FC236}">
                <a16:creationId xmlns:a16="http://schemas.microsoft.com/office/drawing/2014/main" id="{CACC9BFF-2E38-C84F-91C2-60C08E9CFD2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033828" y="159653"/>
            <a:ext cx="487363" cy="487363"/>
          </a:xfrm>
          <a:prstGeom prst="rect">
            <a:avLst/>
          </a:prstGeom>
        </p:spPr>
      </p:pic>
      <p:pic>
        <p:nvPicPr>
          <p:cNvPr id="12" name="dragon-studio-scary-sound-effect-359877">
            <a:hlinkClick r:id="" action="ppaction://media"/>
            <a:extLst>
              <a:ext uri="{FF2B5EF4-FFF2-40B4-BE49-F238E27FC236}">
                <a16:creationId xmlns:a16="http://schemas.microsoft.com/office/drawing/2014/main" id="{C1433B1C-E37B-FBEE-65A0-3F125C9BC57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786842" y="125242"/>
            <a:ext cx="487363" cy="487363"/>
          </a:xfrm>
          <a:prstGeom prst="rect">
            <a:avLst/>
          </a:prstGeom>
        </p:spPr>
      </p:pic>
      <p:pic>
        <p:nvPicPr>
          <p:cNvPr id="14" name="creepysmileanimation_CEanes">
            <a:hlinkClick r:id="" action="ppaction://media"/>
            <a:extLst>
              <a:ext uri="{FF2B5EF4-FFF2-40B4-BE49-F238E27FC236}">
                <a16:creationId xmlns:a16="http://schemas.microsoft.com/office/drawing/2014/main" id="{5499AD16-02F6-64DC-597B-DF9075E36A53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96823" y="0"/>
            <a:ext cx="1372373" cy="137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909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23928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5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1" dur="8097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3" dur="2000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8" dur="8097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69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  <p:audio>
              <p:cMediaNode vol="80000" showWhenStopped="0">
                <p:cTn id="7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video>
              <p:cMediaNode vol="80000" showWhenStopped="0">
                <p:cTn id="7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 build="allAtOnce"/>
      <p:bldP spid="9" grpId="0"/>
      <p:bldP spid="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Darkness_Swallowing_Screen">
            <a:hlinkClick r:id="" action="ppaction://media"/>
            <a:extLst>
              <a:ext uri="{FF2B5EF4-FFF2-40B4-BE49-F238E27FC236}">
                <a16:creationId xmlns:a16="http://schemas.microsoft.com/office/drawing/2014/main" id="{F3873CE4-91FF-455D-C41A-4141376C36F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562" y="641"/>
            <a:ext cx="12186876" cy="68567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98765A-14AF-6529-30AB-C2AB59756C62}"/>
              </a:ext>
            </a:extLst>
          </p:cNvPr>
          <p:cNvSpPr txBox="1"/>
          <p:nvPr/>
        </p:nvSpPr>
        <p:spPr>
          <a:xfrm>
            <a:off x="1075347" y="2189860"/>
            <a:ext cx="1002706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“H-how? </a:t>
            </a:r>
            <a:r>
              <a:rPr lang="en-US" sz="2400" dirty="0" err="1"/>
              <a:t>Wh</a:t>
            </a:r>
            <a:r>
              <a:rPr lang="en-US" sz="2400" dirty="0"/>
              <a:t>-“ the man shakily uttered before being interrupted.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23169D-8918-A5CC-CB51-B1384926F4A6}"/>
              </a:ext>
            </a:extLst>
          </p:cNvPr>
          <p:cNvSpPr txBox="1"/>
          <p:nvPr/>
        </p:nvSpPr>
        <p:spPr>
          <a:xfrm>
            <a:off x="2549495" y="3201112"/>
            <a:ext cx="708588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“Why?</a:t>
            </a:r>
            <a:r>
              <a:rPr lang="en-US" sz="240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Well, repressed memories surface eventually.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F2EFF-CAD9-07DE-E323-F985ABCE2E7F}"/>
              </a:ext>
            </a:extLst>
          </p:cNvPr>
          <p:cNvSpPr txBox="1"/>
          <p:nvPr/>
        </p:nvSpPr>
        <p:spPr>
          <a:xfrm>
            <a:off x="5148842" y="4539953"/>
            <a:ext cx="188007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ptos"/>
                <a:ea typeface="Segoe UI"/>
                <a:cs typeface="Segoe UI"/>
              </a:rPr>
              <a:t>Don’t they?"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5" name="universfield-suspense-horror-sound-229141">
            <a:hlinkClick r:id="" action="ppaction://media"/>
            <a:extLst>
              <a:ext uri="{FF2B5EF4-FFF2-40B4-BE49-F238E27FC236}">
                <a16:creationId xmlns:a16="http://schemas.microsoft.com/office/drawing/2014/main" id="{E2E14E58-E578-D655-7FB5-57484F94D22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87303" y="207860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829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" dur="6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772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9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2" grpId="0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452</TotalTime>
  <Words>292</Words>
  <Application>Microsoft Office PowerPoint</Application>
  <PresentationFormat>Widescreen</PresentationFormat>
  <Paragraphs>50</Paragraphs>
  <Slides>6</Slides>
  <Notes>0</Notes>
  <HiddenSlides>0</HiddenSlides>
  <MMClips>25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Helvetica Neue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Starl</dc:creator>
  <cp:lastModifiedBy>Chloe Eanes</cp:lastModifiedBy>
  <cp:revision>370</cp:revision>
  <dcterms:created xsi:type="dcterms:W3CDTF">2026-09-07T18:28:39Z</dcterms:created>
  <dcterms:modified xsi:type="dcterms:W3CDTF">2026-09-08T21:40:15Z</dcterms:modified>
</cp:coreProperties>
</file>